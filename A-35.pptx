
<file path=[Content_Types].xml><?xml version="1.0" encoding="utf-8"?>
<Types xmlns="http://schemas.openxmlformats.org/package/2006/content-types">
  <Default Extension="gif" ContentType="image/gif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4"/>
  </p:notesMasterIdLst>
  <p:sldIdLst>
    <p:sldId id="333" r:id="rId2"/>
    <p:sldId id="257" r:id="rId3"/>
    <p:sldId id="341" r:id="rId4"/>
    <p:sldId id="288" r:id="rId5"/>
    <p:sldId id="300" r:id="rId6"/>
    <p:sldId id="261" r:id="rId7"/>
    <p:sldId id="340" r:id="rId8"/>
    <p:sldId id="289" r:id="rId9"/>
    <p:sldId id="270" r:id="rId10"/>
    <p:sldId id="332" r:id="rId11"/>
    <p:sldId id="268" r:id="rId12"/>
    <p:sldId id="334" r:id="rId13"/>
    <p:sldId id="342" r:id="rId14"/>
    <p:sldId id="329" r:id="rId15"/>
    <p:sldId id="344" r:id="rId16"/>
    <p:sldId id="345" r:id="rId17"/>
    <p:sldId id="323" r:id="rId18"/>
    <p:sldId id="347" r:id="rId19"/>
    <p:sldId id="281" r:id="rId20"/>
    <p:sldId id="266" r:id="rId21"/>
    <p:sldId id="346" r:id="rId22"/>
    <p:sldId id="265" r:id="rId2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deepika pudi" initials="dp" lastIdx="1" clrIdx="0"/>
  <p:cmAuthor id="2" name="prasadreddy kesari" initials="p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EB1FF"/>
    <a:srgbClr val="A20CD6"/>
    <a:srgbClr val="B368A4"/>
    <a:srgbClr val="C21D1D"/>
    <a:srgbClr val="590D23"/>
    <a:srgbClr val="2DD738"/>
    <a:srgbClr val="3126FF"/>
    <a:srgbClr val="E5F07D"/>
    <a:srgbClr val="1C1C1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C4B1156A-380E-4F78-BDF5-A606A8083BF9}" styleName="中度样式 4 - 强调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204" autoAdjust="0"/>
    <p:restoredTop sz="70580" autoAdjust="0"/>
  </p:normalViewPr>
  <p:slideViewPr>
    <p:cSldViewPr snapToGrid="0" showGuides="1">
      <p:cViewPr varScale="1">
        <p:scale>
          <a:sx n="74" d="100"/>
          <a:sy n="74" d="100"/>
        </p:scale>
        <p:origin x="368" y="5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0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2" y="1"/>
            <a:ext cx="3076575" cy="51276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92" tIns="45745" rIns="91492" bIns="45745" numCol="1" anchor="t" anchorCtr="0" compatLnSpc="1"/>
          <a:lstStyle>
            <a:lvl1pPr algn="l">
              <a:defRPr sz="1100"/>
            </a:lvl1pPr>
          </a:lstStyle>
          <a:p>
            <a:endParaRPr lang="en-US"/>
          </a:p>
        </p:txBody>
      </p:sp>
      <p:sp>
        <p:nvSpPr>
          <p:cNvPr id="104890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1139" y="1"/>
            <a:ext cx="3076575" cy="51276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92" tIns="45745" rIns="91492" bIns="45745" numCol="1" anchor="t" anchorCtr="0" compatLnSpc="1"/>
          <a:lstStyle>
            <a:lvl1pPr algn="r">
              <a:defRPr sz="1100"/>
            </a:lvl1pPr>
          </a:lstStyle>
          <a:p>
            <a:endParaRPr lang="en-US"/>
          </a:p>
        </p:txBody>
      </p:sp>
      <p:sp>
        <p:nvSpPr>
          <p:cNvPr id="104890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90600" y="766763"/>
            <a:ext cx="5118100" cy="38385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04890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9614" y="4862514"/>
            <a:ext cx="5680075" cy="460533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92" tIns="45745" rIns="91492" bIns="45745" numCol="1" anchor="t" anchorCtr="0" compatLnSpc="1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90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2" y="9720264"/>
            <a:ext cx="3076575" cy="51276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92" tIns="45745" rIns="91492" bIns="45745" numCol="1" anchor="b" anchorCtr="0" compatLnSpc="1"/>
          <a:lstStyle>
            <a:lvl1pPr algn="l">
              <a:defRPr sz="1100"/>
            </a:lvl1pPr>
          </a:lstStyle>
          <a:p>
            <a:endParaRPr lang="en-US"/>
          </a:p>
        </p:txBody>
      </p:sp>
      <p:sp>
        <p:nvSpPr>
          <p:cNvPr id="104890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1139" y="9720264"/>
            <a:ext cx="3076575" cy="51276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92" tIns="45745" rIns="91492" bIns="45745" numCol="1" anchor="b" anchorCtr="0" compatLnSpc="1"/>
          <a:lstStyle>
            <a:lvl1pPr algn="r">
              <a:defRPr sz="1100"/>
            </a:lvl1pPr>
          </a:lstStyle>
          <a:p>
            <a:fld id="{A9A0EA98-5831-4853-B862-C702E6EB345C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8113" y="766763"/>
            <a:ext cx="6823075" cy="383857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A0EA98-5831-4853-B862-C702E6EB345C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58228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709EB9-74CB-46C9-A7CD-9D77C0A40538}" type="datetimeFigureOut">
              <a:rPr lang="en-IN" smtClean="0"/>
              <a:t>20-04-2026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FC6DA7-42EC-4B7B-A6A2-F802FDA1DCA5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709EB9-74CB-46C9-A7CD-9D77C0A40538}" type="datetimeFigureOut">
              <a:rPr lang="en-IN" smtClean="0"/>
              <a:t>20-04-2026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FC6DA7-42EC-4B7B-A6A2-F802FDA1DCA5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38"/>
            <a:ext cx="105156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3"/>
            <a:ext cx="105156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709EB9-74CB-46C9-A7CD-9D77C0A40538}" type="datetimeFigureOut">
              <a:rPr lang="en-IN" smtClean="0"/>
              <a:t>20-04-2026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FC6DA7-42EC-4B7B-A6A2-F802FDA1DCA5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76672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5728" y="1600200"/>
            <a:ext cx="5376672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709EB9-74CB-46C9-A7CD-9D77C0A40538}" type="datetimeFigureOut">
              <a:rPr lang="en-IN" smtClean="0"/>
              <a:t>20-04-2026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FC6DA7-42EC-4B7B-A6A2-F802FDA1DCA5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709EB9-74CB-46C9-A7CD-9D77C0A40538}" type="datetimeFigureOut">
              <a:rPr lang="en-IN" smtClean="0"/>
              <a:t>20-04-2026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FC6DA7-42EC-4B7B-A6A2-F802FDA1DCA5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709EB9-74CB-46C9-A7CD-9D77C0A40538}" type="datetimeFigureOut">
              <a:rPr lang="en-IN" smtClean="0"/>
              <a:t>20-04-2026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FC6DA7-42EC-4B7B-A6A2-F802FDA1DCA5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709EB9-74CB-46C9-A7CD-9D77C0A40538}" type="datetimeFigureOut">
              <a:rPr lang="en-IN" smtClean="0"/>
              <a:t>20-04-2026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FC6DA7-42EC-4B7B-A6A2-F802FDA1DCA5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709EB9-74CB-46C9-A7CD-9D77C0A40538}" type="datetimeFigureOut">
              <a:rPr lang="en-IN" smtClean="0"/>
              <a:t>20-04-2026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FC6DA7-42EC-4B7B-A6A2-F802FDA1DCA5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709EB9-74CB-46C9-A7CD-9D77C0A40538}" type="datetimeFigureOut">
              <a:rPr lang="en-IN" smtClean="0"/>
              <a:t>20-04-2026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FC6DA7-42EC-4B7B-A6A2-F802FDA1DCA5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709EB9-74CB-46C9-A7CD-9D77C0A40538}" type="datetimeFigureOut">
              <a:rPr lang="en-IN" smtClean="0"/>
              <a:t>20-04-2026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FC6DA7-42EC-4B7B-A6A2-F802FDA1DCA5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70573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709EB9-74CB-46C9-A7CD-9D77C0A40538}" type="datetimeFigureOut">
              <a:rPr lang="en-IN" smtClean="0"/>
              <a:t>20-04-2026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FC6DA7-42EC-4B7B-A6A2-F802FDA1DCA5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709EB9-74CB-46C9-A7CD-9D77C0A40538}" type="datetimeFigureOut">
              <a:rPr lang="en-IN" smtClean="0"/>
              <a:t>20-04-2026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FC6DA7-42EC-4B7B-A6A2-F802FDA1DCA5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10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1025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/>
          <a:p>
            <a:pPr lvl="0"/>
            <a:r>
              <a:t>Click to edit Master title style</a:t>
            </a:r>
          </a:p>
        </p:txBody>
      </p:sp>
      <p:sp>
        <p:nvSpPr>
          <p:cNvPr id="1027" name="Text Placeholder 1026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1028" name="Date Placeholder 1027"/>
          <p:cNvSpPr>
            <a:spLocks noGrp="1"/>
          </p:cNvSpPr>
          <p:nvPr>
            <p:ph type="dt" sz="half" idx="2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>
              <a:defRPr sz="1400"/>
            </a:lvl1pPr>
          </a:lstStyle>
          <a:p>
            <a:fld id="{1D709EB9-74CB-46C9-A7CD-9D77C0A40538}" type="datetimeFigureOut">
              <a:rPr lang="en-IN" smtClean="0"/>
              <a:t>20-04-2026</a:t>
            </a:fld>
            <a:endParaRPr lang="en-IN"/>
          </a:p>
        </p:txBody>
      </p:sp>
      <p:sp>
        <p:nvSpPr>
          <p:cNvPr id="1029" name="Footer Placeholder 1028"/>
          <p:cNvSpPr>
            <a:spLocks noGrp="1"/>
          </p:cNvSpPr>
          <p:nvPr>
            <p:ph type="ftr" sz="quarter" idx="3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ctr">
              <a:defRPr sz="1400"/>
            </a:lvl1pPr>
          </a:lstStyle>
          <a:p>
            <a:endParaRPr lang="en-IN"/>
          </a:p>
        </p:txBody>
      </p:sp>
      <p:sp>
        <p:nvSpPr>
          <p:cNvPr id="1030" name="Slide Number Placeholder 1029"/>
          <p:cNvSpPr>
            <a:spLocks noGrp="1"/>
          </p:cNvSpPr>
          <p:nvPr>
            <p:ph type="sldNum" sz="quarter" idx="4"/>
          </p:nvPr>
        </p:nvSpPr>
        <p:spPr>
          <a:xfrm>
            <a:off x="8737600" y="6245225"/>
            <a:ext cx="28448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r">
              <a:defRPr sz="1400"/>
            </a:lvl1pPr>
          </a:lstStyle>
          <a:p>
            <a:fld id="{99FC6DA7-42EC-4B7B-A6A2-F802FDA1DCA5}" type="slidenum">
              <a:rPr lang="en-IN" smtClean="0"/>
              <a:t>‹#›</a:t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lvl1pPr marL="0" lvl="0" indent="0" algn="ctr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•"/>
        <a:defRPr sz="32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–"/>
        <a:defRPr sz="2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•"/>
        <a:defRPr sz="24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–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2pPr>
      <a:lvl3pPr marL="914400" lvl="2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3pPr>
      <a:lvl4pPr marL="1371600" lvl="3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4pPr>
      <a:lvl5pPr marL="1828800" lvl="4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5pPr>
      <a:lvl6pPr marL="2286000" lvl="5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6pPr>
      <a:lvl7pPr marL="2743200" lvl="6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7pPr>
      <a:lvl8pPr marL="3200400" lvl="7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8pPr>
      <a:lvl9pPr marL="3657600" lvl="8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gi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C1A935-AA8F-8495-173B-3433F7127C97}"/>
              </a:ext>
            </a:extLst>
          </p:cNvPr>
          <p:cNvSpPr>
            <a:spLocks noGrp="1"/>
          </p:cNvSpPr>
          <p:nvPr/>
        </p:nvSpPr>
        <p:spPr>
          <a:xfrm>
            <a:off x="402604" y="1786143"/>
            <a:ext cx="11420460" cy="70788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Hybrid YOLO-EfficientNet Framework with RAG-Based Intelligence for Personalized Dental Diagnosis and Care Recommendations</a:t>
            </a:r>
            <a:endParaRPr lang="en-US" sz="3000" dirty="0"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59E688D-BEE1-FD63-6053-D7D6280B078B}"/>
              </a:ext>
            </a:extLst>
          </p:cNvPr>
          <p:cNvSpPr>
            <a:spLocks noGrp="1"/>
          </p:cNvSpPr>
          <p:nvPr/>
        </p:nvSpPr>
        <p:spPr>
          <a:xfrm>
            <a:off x="2686049" y="3844737"/>
            <a:ext cx="6819901" cy="14659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PRESENTED BY</a:t>
            </a:r>
          </a:p>
          <a:p>
            <a:r>
              <a:rPr lang="en-US" sz="2600" b="1" dirty="0">
                <a:solidFill>
                  <a:srgbClr val="7030A0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CHARAN SAI CHINTA(238W5A1203)</a:t>
            </a:r>
          </a:p>
          <a:p>
            <a:r>
              <a:rPr lang="en-US" sz="2600" b="1" dirty="0">
                <a:solidFill>
                  <a:srgbClr val="7030A0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TEJOSH TELLA(228W1A1260)</a:t>
            </a:r>
          </a:p>
          <a:p>
            <a:endParaRPr lang="en-US" b="1" dirty="0">
              <a:solidFill>
                <a:srgbClr val="7030A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91C99C5-EE30-4E83-020F-AB107AAFED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2438" y="372053"/>
            <a:ext cx="1545277" cy="1090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4" descr="Image result for vrsec">
            <a:extLst>
              <a:ext uri="{FF2B5EF4-FFF2-40B4-BE49-F238E27FC236}">
                <a16:creationId xmlns:a16="http://schemas.microsoft.com/office/drawing/2014/main" id="{2FB9D22F-B0F6-BCE5-6536-DDB169F4A8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96599" y="95267"/>
            <a:ext cx="1512963" cy="16443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6">
            <a:extLst>
              <a:ext uri="{FF2B5EF4-FFF2-40B4-BE49-F238E27FC236}">
                <a16:creationId xmlns:a16="http://schemas.microsoft.com/office/drawing/2014/main" id="{9D6A404E-7555-9ACA-CFC9-DC07B12A00CE}"/>
              </a:ext>
            </a:extLst>
          </p:cNvPr>
          <p:cNvSpPr txBox="1"/>
          <p:nvPr/>
        </p:nvSpPr>
        <p:spPr>
          <a:xfrm>
            <a:off x="3483934" y="290135"/>
            <a:ext cx="5486400" cy="758857"/>
          </a:xfrm>
          <a:prstGeom prst="rect">
            <a:avLst/>
          </a:prstGeom>
          <a:noFill/>
        </p:spPr>
        <p:txBody>
          <a:bodyPr wrap="square" lIns="19998" tIns="9999" rIns="19998" bIns="9999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2400" b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Information Technology</a:t>
            </a:r>
          </a:p>
          <a:p>
            <a:pPr algn="ctr"/>
            <a:r>
              <a:rPr lang="en-IN" sz="24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 R Siddhartha Engineering College 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254F03F9-F413-309E-0946-A0F5F29E558E}"/>
              </a:ext>
            </a:extLst>
          </p:cNvPr>
          <p:cNvSpPr txBox="1"/>
          <p:nvPr/>
        </p:nvSpPr>
        <p:spPr>
          <a:xfrm>
            <a:off x="3598234" y="3013263"/>
            <a:ext cx="52578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B.Tech</a:t>
            </a:r>
            <a:r>
              <a:rPr lang="en-US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in Information Technology</a:t>
            </a:r>
          </a:p>
          <a:p>
            <a:pPr algn="ctr"/>
            <a:r>
              <a:rPr lang="en-US" sz="2000" b="1" dirty="0">
                <a:solidFill>
                  <a:srgbClr val="BF11A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MINI-1 Project Review Presentation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877CE36-59E3-EE52-6823-E7B1AB3479A3}"/>
              </a:ext>
            </a:extLst>
          </p:cNvPr>
          <p:cNvSpPr/>
          <p:nvPr/>
        </p:nvSpPr>
        <p:spPr>
          <a:xfrm>
            <a:off x="3598234" y="5393600"/>
            <a:ext cx="5029200" cy="1046440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 the guidance of </a:t>
            </a:r>
          </a:p>
          <a:p>
            <a:pPr algn="ctr"/>
            <a:r>
              <a:rPr lang="en-US" sz="2000" dirty="0">
                <a:latin typeface="Times New Roman"/>
                <a:cs typeface="Times New Roman"/>
              </a:rPr>
              <a:t> </a:t>
            </a:r>
            <a:r>
              <a:rPr lang="en-US" sz="2200" b="1" dirty="0">
                <a:solidFill>
                  <a:srgbClr val="FF0000"/>
                </a:solidFill>
                <a:latin typeface="Times New Roman"/>
                <a:cs typeface="Times New Roman"/>
              </a:rPr>
              <a:t>Dr.S.Suhasini</a:t>
            </a:r>
          </a:p>
          <a:p>
            <a:pPr algn="ctr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Associate Professor</a:t>
            </a:r>
            <a:endParaRPr lang="en-US" sz="2000" b="1" dirty="0">
              <a:latin typeface="Times New Roman"/>
              <a:cs typeface="Times New Roman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8533B55-BF34-389C-D963-965CF788AF21}"/>
              </a:ext>
            </a:extLst>
          </p:cNvPr>
          <p:cNvSpPr txBox="1"/>
          <p:nvPr/>
        </p:nvSpPr>
        <p:spPr>
          <a:xfrm>
            <a:off x="131134" y="2593175"/>
            <a:ext cx="1219200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 lvl="0">
              <a:defRPr lang="en-US"/>
            </a:defPPr>
            <a:lvl1pPr marL="0" lv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lvl="1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lvl="2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lvl="3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lvl="4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lvl="5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lvl="6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lvl="7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lvl="8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6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Application Field : Healthcare Diagnostics</a:t>
            </a:r>
          </a:p>
        </p:txBody>
      </p:sp>
    </p:spTree>
    <p:extLst>
      <p:ext uri="{BB962C8B-B14F-4D97-AF65-F5344CB8AC3E}">
        <p14:creationId xmlns:p14="http://schemas.microsoft.com/office/powerpoint/2010/main" val="13848886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9" name="Title 1"/>
          <p:cNvSpPr>
            <a:spLocks noGrp="1"/>
          </p:cNvSpPr>
          <p:nvPr>
            <p:ph type="title"/>
          </p:nvPr>
        </p:nvSpPr>
        <p:spPr>
          <a:xfrm>
            <a:off x="0" y="133004"/>
            <a:ext cx="12192000" cy="1143000"/>
          </a:xfrm>
        </p:spPr>
        <p:txBody>
          <a:bodyPr>
            <a:normAutofit/>
          </a:bodyPr>
          <a:lstStyle/>
          <a:p>
            <a:pPr algn="ctr"/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Agenda</a:t>
            </a:r>
            <a:endParaRPr lang="en-I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620" name="Content Placeholder 6"/>
          <p:cNvSpPr>
            <a:spLocks noGrp="1"/>
          </p:cNvSpPr>
          <p:nvPr>
            <p:ph idx="1"/>
          </p:nvPr>
        </p:nvSpPr>
        <p:spPr>
          <a:xfrm>
            <a:off x="649043" y="1276004"/>
            <a:ext cx="11038840" cy="5131839"/>
          </a:xfrm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and Problem Statement</a:t>
            </a:r>
          </a:p>
          <a:p>
            <a:pPr algn="just">
              <a:lnSpc>
                <a:spcPct val="150000"/>
              </a:lnSpc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 and Outcomes of the Project</a:t>
            </a:r>
          </a:p>
          <a:p>
            <a:pPr algn="just">
              <a:lnSpc>
                <a:spcPct val="150000"/>
              </a:lnSpc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 and Summary</a:t>
            </a:r>
          </a:p>
          <a:p>
            <a:pPr algn="just">
              <a:lnSpc>
                <a:spcPct val="150000"/>
              </a:lnSpc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Datasets and Requirements </a:t>
            </a:r>
          </a:p>
          <a:p>
            <a:pPr algn="just">
              <a:lnSpc>
                <a:spcPct val="150000"/>
              </a:lnSpc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Algorithms used in the Project</a:t>
            </a:r>
          </a:p>
          <a:p>
            <a:pPr algn="just">
              <a:lnSpc>
                <a:spcPct val="150000"/>
              </a:lnSpc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Architecture Diagram</a:t>
            </a:r>
          </a:p>
          <a:p>
            <a:pPr algn="just">
              <a:lnSpc>
                <a:spcPct val="150000"/>
              </a:lnSpc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Steps and Execution</a:t>
            </a:r>
          </a:p>
          <a:p>
            <a:pPr algn="just">
              <a:lnSpc>
                <a:spcPct val="150000"/>
              </a:lnSpc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 Obtained</a:t>
            </a:r>
          </a:p>
          <a:p>
            <a:pPr algn="just">
              <a:lnSpc>
                <a:spcPct val="150000"/>
              </a:lnSpc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 Analysis </a:t>
            </a:r>
          </a:p>
          <a:p>
            <a:pPr algn="just">
              <a:lnSpc>
                <a:spcPct val="150000"/>
              </a:lnSpc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  and Future Work</a:t>
            </a:r>
          </a:p>
          <a:p>
            <a:pPr algn="just">
              <a:lnSpc>
                <a:spcPct val="150000"/>
              </a:lnSpc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5F0A480-9C6F-8C93-6E06-C1C5DD06C20E}"/>
              </a:ext>
            </a:extLst>
          </p:cNvPr>
          <p:cNvSpPr txBox="1"/>
          <p:nvPr/>
        </p:nvSpPr>
        <p:spPr>
          <a:xfrm>
            <a:off x="950343" y="1449240"/>
            <a:ext cx="10291313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Oral diseases are among the most prevalent health issues, where early detection is crucial but often missed due to subtle visual variations.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Conventional diagnostic methods are manual, time-intensive, and highly dependent on clinical expertise, leading to inconsistencies.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Advanced deep learning models enable automated detection and classification of diseases from dental images, improving diagnostic reliability and scalability.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work presents a hybrid deep learning framework integrating YOLO, EfficientNet, and RAG for precise detection, multi-class classification, and personalized recommendations.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155B64BD-628E-0A32-94D6-751BE71C84AA}"/>
              </a:ext>
            </a:extLst>
          </p:cNvPr>
          <p:cNvSpPr txBox="1">
            <a:spLocks/>
          </p:cNvSpPr>
          <p:nvPr/>
        </p:nvSpPr>
        <p:spPr>
          <a:xfrm>
            <a:off x="0" y="99205"/>
            <a:ext cx="12192000" cy="1143000"/>
          </a:xfrm>
          <a:prstGeom prst="rect">
            <a:avLst/>
          </a:prstGeom>
        </p:spPr>
        <p:txBody>
          <a:bodyPr/>
          <a:lstStyle>
            <a:lvl1pPr marL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400" b="0" i="0" u="none" kern="1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I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748960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0" y="0"/>
            <a:ext cx="12192000" cy="11379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ct val="150000"/>
              </a:lnSpc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9917" y="1537335"/>
            <a:ext cx="10672165" cy="532066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develops a hybrid model that detects oral diseases using YOLO and EfficientNet and utilizes their outputs for further analysis.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evaluates severity and tracks disease progression based on bounding box regions and historical data.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Using these results along with patient lifestyle data, a RAG-based module generates personalized recommendations and daily care routines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C3B2B031-B718-2F8E-C1E3-A47A03A4843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8197166"/>
              </p:ext>
            </p:extLst>
          </p:nvPr>
        </p:nvGraphicFramePr>
        <p:xfrm>
          <a:off x="1381335" y="1000663"/>
          <a:ext cx="9429330" cy="470636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14665">
                  <a:extLst>
                    <a:ext uri="{9D8B030D-6E8A-4147-A177-3AD203B41FA5}">
                      <a16:colId xmlns:a16="http://schemas.microsoft.com/office/drawing/2014/main" val="752894720"/>
                    </a:ext>
                  </a:extLst>
                </a:gridCol>
                <a:gridCol w="4714665">
                  <a:extLst>
                    <a:ext uri="{9D8B030D-6E8A-4147-A177-3AD203B41FA5}">
                      <a16:colId xmlns:a16="http://schemas.microsoft.com/office/drawing/2014/main" val="837654074"/>
                    </a:ext>
                  </a:extLst>
                </a:gridCol>
              </a:tblGrid>
              <a:tr h="614448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Objectives</a:t>
                      </a:r>
                    </a:p>
                  </a:txBody>
                  <a:tcPr marL="100352" marR="100352" marT="50176" marB="5017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Outcomes</a:t>
                      </a:r>
                    </a:p>
                  </a:txBody>
                  <a:tcPr marL="100352" marR="100352" marT="50176" marB="50176"/>
                </a:tc>
                <a:extLst>
                  <a:ext uri="{0D108BD9-81ED-4DB2-BD59-A6C34878D82A}">
                    <a16:rowId xmlns:a16="http://schemas.microsoft.com/office/drawing/2014/main" val="1453562357"/>
                  </a:ext>
                </a:extLst>
              </a:tr>
              <a:tr h="1516278">
                <a:tc>
                  <a:txBody>
                    <a:bodyPr/>
                    <a:lstStyle/>
                    <a:p>
                      <a:pPr marL="285750" indent="-285750" algn="just">
                        <a:buFont typeface="Arial" panose="020B0604020202020204" pitchFamily="34" charset="0"/>
                        <a:buChar char="•"/>
                      </a:pPr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Develop an accurate dental disease detection system using YOLO and EfficientNet from images.</a:t>
                      </a:r>
                    </a:p>
                  </a:txBody>
                  <a:tcPr marL="100352" marR="100352" marT="50176" marB="50176"/>
                </a:tc>
                <a:tc>
                  <a:txBody>
                    <a:bodyPr/>
                    <a:lstStyle/>
                    <a:p>
                      <a:pPr marL="285750" indent="-285750" algn="just">
                        <a:buFont typeface="Arial" panose="020B0604020202020204" pitchFamily="34" charset="0"/>
                        <a:buChar char="•"/>
                      </a:pPr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Accurate detection with severity estimation of dental conditions. </a:t>
                      </a:r>
                    </a:p>
                  </a:txBody>
                  <a:tcPr marL="100352" marR="100352" marT="50176" marB="50176"/>
                </a:tc>
                <a:extLst>
                  <a:ext uri="{0D108BD9-81ED-4DB2-BD59-A6C34878D82A}">
                    <a16:rowId xmlns:a16="http://schemas.microsoft.com/office/drawing/2014/main" val="3962029424"/>
                  </a:ext>
                </a:extLst>
              </a:tr>
              <a:tr h="1060556">
                <a:tc>
                  <a:txBody>
                    <a:bodyPr/>
                    <a:lstStyle/>
                    <a:p>
                      <a:pPr marL="285750" indent="-285750" algn="just">
                        <a:buFont typeface="Arial" panose="020B0604020202020204" pitchFamily="34" charset="0"/>
                        <a:buChar char="•"/>
                      </a:pPr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Track disease progression over time using bounding box–based analysis. </a:t>
                      </a:r>
                    </a:p>
                  </a:txBody>
                  <a:tcPr marL="100352" marR="100352" marT="50176" marB="50176"/>
                </a:tc>
                <a:tc>
                  <a:txBody>
                    <a:bodyPr/>
                    <a:lstStyle/>
                    <a:p>
                      <a:pPr marL="285750" indent="-285750" algn="just">
                        <a:buFont typeface="Arial" panose="020B0604020202020204" pitchFamily="34" charset="0"/>
                        <a:buChar char="•"/>
                      </a:pPr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Continuous monitoring of disease progression for early intervention. </a:t>
                      </a:r>
                    </a:p>
                  </a:txBody>
                  <a:tcPr marL="100352" marR="100352" marT="50176" marB="50176"/>
                </a:tc>
                <a:extLst>
                  <a:ext uri="{0D108BD9-81ED-4DB2-BD59-A6C34878D82A}">
                    <a16:rowId xmlns:a16="http://schemas.microsoft.com/office/drawing/2014/main" val="1341382030"/>
                  </a:ext>
                </a:extLst>
              </a:tr>
              <a:tr h="1515080">
                <a:tc>
                  <a:txBody>
                    <a:bodyPr/>
                    <a:lstStyle/>
                    <a:p>
                      <a:pPr marL="285750" indent="-285750" algn="just">
                        <a:buFont typeface="Arial" panose="020B0604020202020204" pitchFamily="34" charset="0"/>
                        <a:buChar char="•"/>
                      </a:pPr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Generate personalized and context-aware care recommendations using RAG-based intelligence.</a:t>
                      </a:r>
                    </a:p>
                  </a:txBody>
                  <a:tcPr marL="100352" marR="100352" marT="50176" marB="50176"/>
                </a:tc>
                <a:tc>
                  <a:txBody>
                    <a:bodyPr/>
                    <a:lstStyle/>
                    <a:p>
                      <a:pPr marL="285750" indent="-285750" algn="just">
                        <a:buFont typeface="Arial" panose="020B0604020202020204" pitchFamily="34" charset="0"/>
                        <a:buChar char="•"/>
                      </a:pPr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Personalized dental care recommendations improving patient outcomes and compliance.</a:t>
                      </a:r>
                    </a:p>
                  </a:txBody>
                  <a:tcPr marL="100352" marR="100352" marT="50176" marB="50176"/>
                </a:tc>
                <a:extLst>
                  <a:ext uri="{0D108BD9-81ED-4DB2-BD59-A6C34878D82A}">
                    <a16:rowId xmlns:a16="http://schemas.microsoft.com/office/drawing/2014/main" val="3245822591"/>
                  </a:ext>
                </a:extLst>
              </a:tr>
            </a:tbl>
          </a:graphicData>
        </a:graphic>
      </p:graphicFrame>
      <p:sp>
        <p:nvSpPr>
          <p:cNvPr id="3" name="TextBox 3">
            <a:extLst>
              <a:ext uri="{FF2B5EF4-FFF2-40B4-BE49-F238E27FC236}">
                <a16:creationId xmlns:a16="http://schemas.microsoft.com/office/drawing/2014/main" id="{9BB5B461-2056-6F67-444B-1FD4B01BD76D}"/>
              </a:ext>
            </a:extLst>
          </p:cNvPr>
          <p:cNvSpPr txBox="1"/>
          <p:nvPr/>
        </p:nvSpPr>
        <p:spPr>
          <a:xfrm>
            <a:off x="0" y="0"/>
            <a:ext cx="12192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buNone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 and Outcomes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382386"/>
            <a:ext cx="12192635" cy="1188085"/>
          </a:xfrm>
        </p:spPr>
        <p:txBody>
          <a:bodyPr/>
          <a:lstStyle/>
          <a:p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 and Summary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CC043A3E-70B5-35FB-26F5-261F81955D7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31512130"/>
              </p:ext>
            </p:extLst>
          </p:nvPr>
        </p:nvGraphicFramePr>
        <p:xfrm>
          <a:off x="68420" y="482138"/>
          <a:ext cx="12070080" cy="6310385"/>
        </p:xfrm>
        <a:graphic>
          <a:graphicData uri="http://schemas.openxmlformats.org/drawingml/2006/table">
            <a:tbl>
              <a:tblPr firstRow="1" bandRow="1"/>
              <a:tblGrid>
                <a:gridCol w="575281">
                  <a:extLst>
                    <a:ext uri="{9D8B030D-6E8A-4147-A177-3AD203B41FA5}">
                      <a16:colId xmlns:a16="http://schemas.microsoft.com/office/drawing/2014/main" val="2875867845"/>
                    </a:ext>
                  </a:extLst>
                </a:gridCol>
                <a:gridCol w="2780543">
                  <a:extLst>
                    <a:ext uri="{9D8B030D-6E8A-4147-A177-3AD203B41FA5}">
                      <a16:colId xmlns:a16="http://schemas.microsoft.com/office/drawing/2014/main" val="3799087198"/>
                    </a:ext>
                  </a:extLst>
                </a:gridCol>
                <a:gridCol w="1722207">
                  <a:extLst>
                    <a:ext uri="{9D8B030D-6E8A-4147-A177-3AD203B41FA5}">
                      <a16:colId xmlns:a16="http://schemas.microsoft.com/office/drawing/2014/main" val="3962726481"/>
                    </a:ext>
                  </a:extLst>
                </a:gridCol>
                <a:gridCol w="1654337">
                  <a:extLst>
                    <a:ext uri="{9D8B030D-6E8A-4147-A177-3AD203B41FA5}">
                      <a16:colId xmlns:a16="http://schemas.microsoft.com/office/drawing/2014/main" val="2252156065"/>
                    </a:ext>
                  </a:extLst>
                </a:gridCol>
                <a:gridCol w="2468780">
                  <a:extLst>
                    <a:ext uri="{9D8B030D-6E8A-4147-A177-3AD203B41FA5}">
                      <a16:colId xmlns:a16="http://schemas.microsoft.com/office/drawing/2014/main" val="416282613"/>
                    </a:ext>
                  </a:extLst>
                </a:gridCol>
                <a:gridCol w="2868932">
                  <a:extLst>
                    <a:ext uri="{9D8B030D-6E8A-4147-A177-3AD203B41FA5}">
                      <a16:colId xmlns:a16="http://schemas.microsoft.com/office/drawing/2014/main" val="805496833"/>
                    </a:ext>
                  </a:extLst>
                </a:gridCol>
              </a:tblGrid>
              <a:tr h="29693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S.No</a:t>
                      </a:r>
                      <a:endParaRPr lang="en-I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Title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Authors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Dataset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Key Results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Limitations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67636832"/>
                  </a:ext>
                </a:extLst>
              </a:tr>
              <a:tr h="115926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Enhanced Dental Disease Detection with YOLOv8: A Deep Learning Approach, 2025, IEEE Conference</a:t>
                      </a:r>
                    </a:p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just" defTabSz="91440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Naveen S M B, R. Krishnaveni, </a:t>
                      </a:r>
                      <a:r>
                        <a:rPr lang="en-US" sz="14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Vidhyaasaravan</a:t>
                      </a: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S,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5000+ panoramic dental X-ray images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Achieved high precision, recall, and </a:t>
                      </a:r>
                      <a:r>
                        <a:rPr lang="en-US" sz="14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mAP</a:t>
                      </a: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using YOLOv8 for real-time dental disease detection and localization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just" defTabSz="91440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Performance depends on annotation quality and struggles with multi-class complexity in diverse datasets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33181849"/>
                  </a:ext>
                </a:extLst>
              </a:tr>
              <a:tr h="92049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Dental Disease Detection using </a:t>
                      </a:r>
                      <a:r>
                        <a:rPr lang="en-US" sz="14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EfficientNet</a:t>
                      </a: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2025, IEEE Conference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Radha </a:t>
                      </a:r>
                      <a:r>
                        <a:rPr lang="en-US" sz="14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Wasudeo</a:t>
                      </a: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Wande, Utkarsha </a:t>
                      </a:r>
                      <a:r>
                        <a:rPr lang="en-US" sz="14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Pacharaney</a:t>
                      </a: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Roshni </a:t>
                      </a:r>
                      <a:r>
                        <a:rPr lang="en-US" sz="14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Rathour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Panoramic dental X-ray dataset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Achieved ~95% accuracy using </a:t>
                      </a:r>
                      <a:r>
                        <a:rPr lang="en-US" sz="14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EfficientNet</a:t>
                      </a: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(B0–B3), with EfficientNet-B2 giving best performance for classification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Limited interpretability and requires large datasets; struggles with overlapping disease conditions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88019576"/>
                  </a:ext>
                </a:extLst>
              </a:tr>
              <a:tr h="11283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Advancing Oral Disease Diagnosis with Deep Learning and </a:t>
                      </a:r>
                      <a:r>
                        <a:rPr lang="en-US" sz="14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DenseNet</a:t>
                      </a: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Architecture, 2024, IEEE Conference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Dr. M. Vijayalakshmi, Sajal Tandon, Sam T. James, Tanay Gupta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Kaggle dataset (5 oral diseases)</a:t>
                      </a:r>
                      <a:endParaRPr lang="en-I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DenseNet</a:t>
                      </a: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improves feature reuse and classification accuracy for diseases like caries, gingivitis, ulcers, hypodontia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Affected by class imbalance, dataset inconsistency, and lack of explainability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74715199"/>
                  </a:ext>
                </a:extLst>
              </a:tr>
              <a:tr h="11283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Hybrid-Based Deep Learning Framework for Pill Detection, Multi-Attribute Classification and Prediction with Metadata Retrieval, 2026, IEEE </a:t>
                      </a:r>
                      <a:r>
                        <a:rPr lang="en-US" sz="14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Acces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i-FI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A. Sai Sachin, J. Karthikeyan</a:t>
                      </a:r>
                      <a:endParaRPr lang="it-IT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Custom dataset (20,000 pill images, 200 classes)</a:t>
                      </a:r>
                      <a:endParaRPr lang="en-I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Hybrid pipeline (YOLOv12n + </a:t>
                      </a:r>
                      <a:r>
                        <a:rPr lang="en-US" sz="14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ConvNeXt</a:t>
                      </a: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-Tiny + metadata) achieved ~99% accuracy with strong precision and recall</a:t>
                      </a:r>
                    </a:p>
                    <a:p>
                      <a:pPr>
                        <a:buNone/>
                      </a:pP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High computational complexity and reliance on controlled conditions limits real-world adaptability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40526544"/>
                  </a:ext>
                </a:extLst>
              </a:tr>
              <a:tr h="154405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Diagnosis and Treatment of Dermatological Diseases by Integration of Visual Diagnosis and Retrieval-Augmented Generation (RAG) Technologies, 2025, IEEE Access</a:t>
                      </a:r>
                    </a:p>
                    <a:p>
                      <a:pPr>
                        <a:buNone/>
                      </a:pP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Emre Atlier </a:t>
                      </a:r>
                      <a:r>
                        <a:rPr lang="en-US" sz="14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Olca</a:t>
                      </a:r>
                      <a:endParaRPr lang="en-I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Multi-source medical datasets with RAG-based retrieval</a:t>
                      </a:r>
                      <a:endParaRPr lang="en-I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Combines deep learning with RAG to generate personalized recommendations and dynamic medical insights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High system complexity and dependency on continuously updated knowledge base</a:t>
                      </a:r>
                      <a:endParaRPr lang="en-I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9336273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2B7A371-6E7D-6755-424D-4E62A0F9CC85}"/>
              </a:ext>
            </a:extLst>
          </p:cNvPr>
          <p:cNvSpPr txBox="1"/>
          <p:nvPr/>
        </p:nvSpPr>
        <p:spPr>
          <a:xfrm>
            <a:off x="776378" y="1166842"/>
            <a:ext cx="10472468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works show that YOLO-based models are highly effective for real-time detection, but they mainly focus on localization and lack deeper disease analysis and progression tracking.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EfficientNet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DenseNet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models improve classification accuracy, yet they struggle with multi-class complexity, overlapping disease features, and real-world generalization.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Recent studies highlight the advantage of hybrid pipelines combining detection and classification, achieving higher accuracy, but they often ignore patient-specific insights and temporal disease progression.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Emerging approaches using RAG enable personalized recommendations, but integration with vision-based dental diagnosis systems is still limited, creating a gap addressed by this work.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overcome these challenges, this work introduces an integrated hybrid framework combining YOLO,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EfficientNet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RAG for accurate multi-class detection, disease progression tracking, and personalized recommendations.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552538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270" y="0"/>
            <a:ext cx="12190730" cy="119189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ct val="150000"/>
              </a:lnSpc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Datasets and Requirement</a:t>
            </a:r>
            <a:r>
              <a:rPr lang="en-IN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Specifications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3200" dirty="0"/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777311" y="1105631"/>
            <a:ext cx="8616855" cy="15771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no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endParaRPr lang="en-US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endParaRPr kumimoji="0" lang="en-US" altLang="en-US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endParaRPr kumimoji="0" lang="en-US" altLang="en-US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E5A072F-8734-1658-52AD-4F7B354E8214}"/>
              </a:ext>
            </a:extLst>
          </p:cNvPr>
          <p:cNvSpPr txBox="1"/>
          <p:nvPr/>
        </p:nvSpPr>
        <p:spPr>
          <a:xfrm>
            <a:off x="777311" y="3053751"/>
            <a:ext cx="8747185" cy="32778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just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Requirements: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Programming: Python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 Detection: YOLOv8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Image Classification: EfficientNet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 Interface: Flask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RAG Module: Local LLM, FAISS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Image Processing: OpenCV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Environment: Kaggle Notebook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Database: MongoDB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Hardware: 8GB RAM, Intel i5</a:t>
            </a:r>
          </a:p>
          <a:p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95548A5-410C-0E02-616D-8EB49029C9C1}"/>
              </a:ext>
            </a:extLst>
          </p:cNvPr>
          <p:cNvSpPr txBox="1"/>
          <p:nvPr/>
        </p:nvSpPr>
        <p:spPr>
          <a:xfrm>
            <a:off x="845389" y="1001719"/>
            <a:ext cx="25534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Dataset: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700BCDB-BF02-4F89-88BF-E363301BA325}"/>
              </a:ext>
            </a:extLst>
          </p:cNvPr>
          <p:cNvSpPr txBox="1"/>
          <p:nvPr/>
        </p:nvSpPr>
        <p:spPr>
          <a:xfrm>
            <a:off x="845389" y="1371255"/>
            <a:ext cx="874718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Oral Disease Dataset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Source: Kaggle – Oral Disease Dataset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Dental Knowledge Base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Source: Clinical dental guidelines, research articles, and curated oral healthcare resources for RAG-based recommendations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ACA220-A213-7E02-AD30-CD6B00F962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7240" y="-74816"/>
            <a:ext cx="10972800" cy="1143000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Algorithms used in the Project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424B83-4707-52C5-12A2-9B24F64AE0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5796" y="913708"/>
            <a:ext cx="11896204" cy="5662352"/>
          </a:xfrm>
        </p:spPr>
        <p:txBody>
          <a:bodyPr/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YOLOv8n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 images are preprocessed to ensure faster and lightweight inference.</a:t>
            </a:r>
          </a:p>
          <a:p>
            <a:pPr marL="0" indent="0" algn="just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YOLOv8n uses a compact architecture for real-time detection with reduced computational cost.</a:t>
            </a:r>
          </a:p>
          <a:p>
            <a:pPr marL="0" indent="0" algn="just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model provides quick predictions with bounding boxes and class probabilities suitable for deployment on low-resource devices.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YOLOv8m</a:t>
            </a:r>
          </a:p>
          <a:p>
            <a:pPr marL="0" indent="0" algn="just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 images are resized and normalized for efficient object detection.</a:t>
            </a:r>
          </a:p>
          <a:p>
            <a:pPr marL="0" indent="0" algn="just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YOLOv8m performs feature extraction using convolutional layers and detects regions of interest (bounding boxes) in dental images.</a:t>
            </a:r>
          </a:p>
          <a:p>
            <a:pPr marL="0" indent="0" algn="just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model outputs class labels, bounding box coordinates, and confidence scores for detected oral diseases.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YOLO + EfficientNet (Hybrid Model)</a:t>
            </a:r>
          </a:p>
          <a:p>
            <a:pPr marL="0" indent="0" algn="just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YOLO detects affected regions in the input dental images and extracts bounding box areas.</a:t>
            </a:r>
          </a:p>
          <a:p>
            <a:pPr marL="0" indent="0" algn="just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cropped regions are passed to EfficientNet for deep feature extraction and multi-class classification.</a:t>
            </a:r>
          </a:p>
          <a:p>
            <a:pPr marL="0" indent="0" algn="just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Global pooling, dropout, and Softmax layer generate final predictions, enabling accurate disease detection and analysis.</a:t>
            </a:r>
          </a:p>
        </p:txBody>
      </p:sp>
    </p:spTree>
    <p:extLst>
      <p:ext uri="{BB962C8B-B14F-4D97-AF65-F5344CB8AC3E}">
        <p14:creationId xmlns:p14="http://schemas.microsoft.com/office/powerpoint/2010/main" val="26801163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9DF7A7-B0EB-AB4D-EEF2-0ADB595B5C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096962"/>
          </a:xfrm>
        </p:spPr>
        <p:txBody>
          <a:bodyPr>
            <a:normAutofit fontScale="90000"/>
          </a:bodyPr>
          <a:lstStyle/>
          <a:p>
            <a:b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Architecture Diagram</a:t>
            </a:r>
            <a:b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3200" dirty="0"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CD9231D-20B9-473C-17F7-84DF49DAFF4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6478"/>
          <a:stretch>
            <a:fillRect/>
          </a:stretch>
        </p:blipFill>
        <p:spPr>
          <a:xfrm>
            <a:off x="2409914" y="1397480"/>
            <a:ext cx="7501836" cy="44484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861496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040D05-FE03-92FC-0F44-1E23AF9E5007}"/>
              </a:ext>
            </a:extLst>
          </p:cNvPr>
          <p:cNvSpPr txBox="1">
            <a:spLocks/>
          </p:cNvSpPr>
          <p:nvPr/>
        </p:nvSpPr>
        <p:spPr>
          <a:xfrm>
            <a:off x="0" y="79303"/>
            <a:ext cx="12192000" cy="76934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Implementations Steps and Execution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767947E-F4C8-6373-3005-40A16735DA95}"/>
              </a:ext>
            </a:extLst>
          </p:cNvPr>
          <p:cNvSpPr txBox="1"/>
          <p:nvPr/>
        </p:nvSpPr>
        <p:spPr>
          <a:xfrm>
            <a:off x="654285" y="926289"/>
            <a:ext cx="10827473" cy="5355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Step1–Input Image Acquisition:</a:t>
            </a:r>
          </a:p>
          <a:p>
            <a:pPr algn="just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accepts a dental image uploaded by the user through the web interface along with lifestyle details such as brushing habits, diet, and medical history.</a:t>
            </a:r>
          </a:p>
          <a:p>
            <a:pPr algn="just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2 – Image Preprocessing:</a:t>
            </a:r>
          </a:p>
          <a:p>
            <a:pPr algn="just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uploaded image is resized to 640 × 640 resolution and normalized according to YOLOv8 preprocessing standards to ensure compatibility with the trained object detection model.</a:t>
            </a:r>
          </a:p>
          <a:p>
            <a:pPr algn="just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3 – YOLOv8 Object Detection:</a:t>
            </a:r>
          </a:p>
          <a:p>
            <a:pPr algn="just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pretrained YOLOv8 model detects and localizes oral diseases from clinical dental images, predicting bounding boxes, class labels, and confidence scores for each condition.</a:t>
            </a:r>
          </a:p>
          <a:p>
            <a:pPr algn="just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4 – Region of Interest Extraction:</a:t>
            </a:r>
          </a:p>
          <a:p>
            <a:pPr algn="just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Detected bounding box regions are extracted from the image to focus on affected areas for further analysis.</a:t>
            </a:r>
          </a:p>
          <a:p>
            <a:pPr algn="just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5 – EfficientNet Classification: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extracted region is passed through an EfficientNet model to classify the severity level (mild, moderate, severe) of the detected condition.</a:t>
            </a:r>
          </a:p>
          <a:p>
            <a:pPr algn="just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6 – Severity Estimation: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Severity is quantified using: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Bounding box area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Classification output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Confidence score</a:t>
            </a:r>
          </a:p>
        </p:txBody>
      </p:sp>
    </p:spTree>
    <p:extLst>
      <p:ext uri="{BB962C8B-B14F-4D97-AF65-F5344CB8AC3E}">
        <p14:creationId xmlns:p14="http://schemas.microsoft.com/office/powerpoint/2010/main" val="7522823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7187D3D-5FD3-1BFB-FF7A-4EEE1B6902A8}"/>
              </a:ext>
            </a:extLst>
          </p:cNvPr>
          <p:cNvSpPr txBox="1"/>
          <p:nvPr/>
        </p:nvSpPr>
        <p:spPr>
          <a:xfrm>
            <a:off x="629728" y="414068"/>
            <a:ext cx="10852030" cy="64633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7 – Disease Progress Tracking: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compares current detection results with previous records to analyze changes in bounding box size and severity, enabling progression tracking.</a:t>
            </a:r>
          </a:p>
          <a:p>
            <a:pPr algn="just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8 – Knowledge Retrieval (RAG Module):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Relevant dental knowledge is retrieved from a local knowledge base based on detected conditions and severity.</a:t>
            </a:r>
          </a:p>
          <a:p>
            <a:pPr algn="just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9 – Rule-Based Recommendation Engine: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rule-based engine processes: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Detected conditions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Lifestyle data (brushing, sugar intake, tobacco, etc.) 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generates: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Personalized recommendations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Daily routines (morning, afternoon, night)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Treatment suggestions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Risk level (Low/Medium/High) </a:t>
            </a:r>
          </a:p>
          <a:p>
            <a:pPr algn="just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10 – Context Processing: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Retrieved knowledge and rule-based outputs are combined to generate structured, context-aware recommendations.</a:t>
            </a:r>
          </a:p>
          <a:p>
            <a:pPr algn="just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11 – Final System Output: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displays: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Original dental image with bounding boxes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Detected conditions with severity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Risk level assessment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Personalized recommendations and daily care routine</a:t>
            </a:r>
          </a:p>
          <a:p>
            <a:pPr algn="just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5661971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2AC24D8A-1A84-AC53-6A36-2E7BFCE87F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272" y="1404707"/>
            <a:ext cx="4575563" cy="4048586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DBB6D664-F5B0-9DE4-700E-07E5F1AC32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74107" y="960939"/>
            <a:ext cx="3752670" cy="468935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3A8FC11-1EEE-19E9-6EA2-8135BC0D0EC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08182" y="928665"/>
            <a:ext cx="3484127" cy="472162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49BC4A0-BE5F-35C5-A882-FBFE40D73495}"/>
              </a:ext>
            </a:extLst>
          </p:cNvPr>
          <p:cNvSpPr txBox="1"/>
          <p:nvPr/>
        </p:nvSpPr>
        <p:spPr>
          <a:xfrm>
            <a:off x="398544" y="5707469"/>
            <a:ext cx="457556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1.YOLOv8n-Based Dental X-Ray Detection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E015592-D955-45B9-A45E-BCC295349ED3}"/>
              </a:ext>
            </a:extLst>
          </p:cNvPr>
          <p:cNvSpPr txBox="1"/>
          <p:nvPr/>
        </p:nvSpPr>
        <p:spPr>
          <a:xfrm>
            <a:off x="5489276" y="5753635"/>
            <a:ext cx="698739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YOLOv8m-Based Intraoral Image Detection and  Recommendations</a:t>
            </a:r>
          </a:p>
          <a:p>
            <a:endParaRPr lang="en-US" sz="1600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7EE47991-0882-7DCE-23EC-B179E1554C18}"/>
              </a:ext>
            </a:extLst>
          </p:cNvPr>
          <p:cNvSpPr txBox="1">
            <a:spLocks/>
          </p:cNvSpPr>
          <p:nvPr/>
        </p:nvSpPr>
        <p:spPr>
          <a:xfrm>
            <a:off x="-635" y="0"/>
            <a:ext cx="12192635" cy="1143000"/>
          </a:xfrm>
          <a:prstGeom prst="rect">
            <a:avLst/>
          </a:prstGeom>
        </p:spPr>
        <p:txBody>
          <a:bodyPr/>
          <a:lstStyle>
            <a:lvl1pPr marL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400" b="0" i="0" u="none" kern="1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 Obtained </a:t>
            </a:r>
            <a:endParaRPr lang="en-I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1405935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C240AA5D-DAF4-1E63-A307-9F03026768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85" y="1047327"/>
            <a:ext cx="5313872" cy="4319887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6D6D16E5-F9E9-AC35-2318-47EFF22A4DFB}"/>
              </a:ext>
            </a:extLst>
          </p:cNvPr>
          <p:cNvSpPr txBox="1"/>
          <p:nvPr/>
        </p:nvSpPr>
        <p:spPr>
          <a:xfrm>
            <a:off x="230038" y="5672269"/>
            <a:ext cx="586596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3.Hybrid YOLO +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EfficientNet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-Based Detection and Disease Progress Tracking</a:t>
            </a:r>
            <a:endParaRPr 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448E1A8-1F9B-9F2C-900B-32EC99A24C5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18148"/>
          <a:stretch>
            <a:fillRect/>
          </a:stretch>
        </p:blipFill>
        <p:spPr>
          <a:xfrm>
            <a:off x="5546784" y="1047327"/>
            <a:ext cx="6400801" cy="452533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64811E0-6DE0-E945-7CCF-6C052B714059}"/>
              </a:ext>
            </a:extLst>
          </p:cNvPr>
          <p:cNvSpPr txBox="1"/>
          <p:nvPr/>
        </p:nvSpPr>
        <p:spPr>
          <a:xfrm>
            <a:off x="6469811" y="5672269"/>
            <a:ext cx="508095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RAG-Based Personalized Dental Care Recommendations</a:t>
            </a:r>
            <a:endParaRPr 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9885986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52BAEE2B-F866-D724-498B-15DDE9C29AE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8880" y="1607432"/>
            <a:ext cx="5218381" cy="3737236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A738848F-5ADB-B410-6E15-87051A58AE5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43267" y="1607432"/>
            <a:ext cx="5139133" cy="3737236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CD29A7A9-A0B3-A210-557C-6C5BB01A5FF7}"/>
              </a:ext>
            </a:extLst>
          </p:cNvPr>
          <p:cNvSpPr txBox="1">
            <a:spLocks/>
          </p:cNvSpPr>
          <p:nvPr/>
        </p:nvSpPr>
        <p:spPr>
          <a:xfrm>
            <a:off x="0" y="105987"/>
            <a:ext cx="11582400" cy="876300"/>
          </a:xfrm>
          <a:prstGeom prst="rect">
            <a:avLst/>
          </a:prstGeom>
        </p:spPr>
        <p:txBody>
          <a:bodyPr/>
          <a:lstStyle>
            <a:lvl1pPr marL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400" b="0" i="0" u="none" kern="1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 Analysis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388600B-8CC5-9B34-1B53-3C624AF6D392}"/>
              </a:ext>
            </a:extLst>
          </p:cNvPr>
          <p:cNvSpPr txBox="1"/>
          <p:nvPr/>
        </p:nvSpPr>
        <p:spPr>
          <a:xfrm>
            <a:off x="1465771" y="5344668"/>
            <a:ext cx="471649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YoloV8n Training vs Validation  Accuracy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3AAC90A-0452-5331-4353-1097B12FABD0}"/>
              </a:ext>
            </a:extLst>
          </p:cNvPr>
          <p:cNvSpPr txBox="1"/>
          <p:nvPr/>
        </p:nvSpPr>
        <p:spPr>
          <a:xfrm>
            <a:off x="7132838" y="5344668"/>
            <a:ext cx="43316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YoloV8n Training vs Validation  Loss</a:t>
            </a:r>
          </a:p>
        </p:txBody>
      </p:sp>
    </p:spTree>
    <p:extLst>
      <p:ext uri="{BB962C8B-B14F-4D97-AF65-F5344CB8AC3E}">
        <p14:creationId xmlns:p14="http://schemas.microsoft.com/office/powerpoint/2010/main" val="121987681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6ECDD9-A224-EEC8-B7A4-C4B54C3D92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0BDAB4-CA34-12E8-B85F-1A76DCFD39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1993" y="417576"/>
            <a:ext cx="11019790" cy="6294120"/>
          </a:xfrm>
        </p:spPr>
        <p:txBody>
          <a:bodyPr/>
          <a:lstStyle/>
          <a:p>
            <a:pPr marL="0" indent="0">
              <a:buNone/>
            </a:pPr>
            <a:endParaRPr lang="en-US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743DEB5-0172-05A0-A736-36D679254A5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1993" y="3839547"/>
            <a:ext cx="5284882" cy="280474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043BC9B-F06A-0602-2676-21301B029C2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0890" y="853670"/>
            <a:ext cx="5505985" cy="280474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CEB205D-D553-7E72-F389-8D0E5D13D73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98336" y="1000836"/>
            <a:ext cx="5962774" cy="535700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D59BD99-6A3F-F43C-2BBC-C3BB7189FE78}"/>
              </a:ext>
            </a:extLst>
          </p:cNvPr>
          <p:cNvSpPr txBox="1"/>
          <p:nvPr/>
        </p:nvSpPr>
        <p:spPr>
          <a:xfrm>
            <a:off x="6268300" y="417576"/>
            <a:ext cx="36320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Confusion Matrix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D3940C6-9299-FD0C-E3A9-21C372C3FA2B}"/>
              </a:ext>
            </a:extLst>
          </p:cNvPr>
          <p:cNvSpPr txBox="1"/>
          <p:nvPr/>
        </p:nvSpPr>
        <p:spPr>
          <a:xfrm>
            <a:off x="720217" y="417576"/>
            <a:ext cx="47186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YoloV8m Accuracy &amp; Loss graphs</a:t>
            </a:r>
          </a:p>
        </p:txBody>
      </p:sp>
    </p:spTree>
    <p:extLst>
      <p:ext uri="{BB962C8B-B14F-4D97-AF65-F5344CB8AC3E}">
        <p14:creationId xmlns:p14="http://schemas.microsoft.com/office/powerpoint/2010/main" val="306962502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6ECDD9-A224-EEC8-B7A4-C4B54C3D92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0BDAB4-CA34-12E8-B85F-1A76DCFD39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6672" y="1408176"/>
            <a:ext cx="11019790" cy="6294120"/>
          </a:xfrm>
        </p:spPr>
        <p:txBody>
          <a:bodyPr/>
          <a:lstStyle/>
          <a:p>
            <a:pPr marL="0" indent="0">
              <a:buNone/>
            </a:pPr>
            <a:endParaRPr lang="en-US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109433" y="32306"/>
            <a:ext cx="12192000" cy="941070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 and Result Analysis</a:t>
            </a: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b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52" name="Picture 4">
            <a:extLst>
              <a:ext uri="{FF2B5EF4-FFF2-40B4-BE49-F238E27FC236}">
                <a16:creationId xmlns:a16="http://schemas.microsoft.com/office/drawing/2014/main" id="{E53D2F7F-6BE7-C5CA-5561-E20F134F735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9831"/>
          <a:stretch>
            <a:fillRect/>
          </a:stretch>
        </p:blipFill>
        <p:spPr bwMode="auto">
          <a:xfrm>
            <a:off x="1242264" y="3877084"/>
            <a:ext cx="4199882" cy="28353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2">
            <a:extLst>
              <a:ext uri="{FF2B5EF4-FFF2-40B4-BE49-F238E27FC236}">
                <a16:creationId xmlns:a16="http://schemas.microsoft.com/office/drawing/2014/main" id="{67100D23-2902-6276-AC37-010AD0C67F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63864" y="1152030"/>
            <a:ext cx="5622247" cy="48755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Picture 8">
            <a:extLst>
              <a:ext uri="{FF2B5EF4-FFF2-40B4-BE49-F238E27FC236}">
                <a16:creationId xmlns:a16="http://schemas.microsoft.com/office/drawing/2014/main" id="{28373E55-62C0-2DB5-A034-F87137D9116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/>
          <a:stretch>
            <a:fillRect/>
          </a:stretch>
        </p:blipFill>
        <p:spPr bwMode="auto">
          <a:xfrm>
            <a:off x="1242264" y="1152030"/>
            <a:ext cx="4137686" cy="27250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3C43D79-7139-04AC-0439-326630CB6AE4}"/>
              </a:ext>
            </a:extLst>
          </p:cNvPr>
          <p:cNvSpPr txBox="1"/>
          <p:nvPr/>
        </p:nvSpPr>
        <p:spPr>
          <a:xfrm>
            <a:off x="6367817" y="726105"/>
            <a:ext cx="20962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Confusion Matrix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304D0D8-004C-718B-52DD-0C98795327F2}"/>
              </a:ext>
            </a:extLst>
          </p:cNvPr>
          <p:cNvSpPr txBox="1"/>
          <p:nvPr/>
        </p:nvSpPr>
        <p:spPr>
          <a:xfrm>
            <a:off x="1105536" y="726105"/>
            <a:ext cx="47186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Yolo+EfficientNet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Accuracy &amp; Loss graphs</a:t>
            </a:r>
          </a:p>
        </p:txBody>
      </p:sp>
    </p:spTree>
    <p:extLst>
      <p:ext uri="{BB962C8B-B14F-4D97-AF65-F5344CB8AC3E}">
        <p14:creationId xmlns:p14="http://schemas.microsoft.com/office/powerpoint/2010/main" val="312271161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C88A6506-0311-F82F-2095-AA2F38E25E1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22403241"/>
              </p:ext>
            </p:extLst>
          </p:nvPr>
        </p:nvGraphicFramePr>
        <p:xfrm>
          <a:off x="1945736" y="478126"/>
          <a:ext cx="8569866" cy="5085912"/>
        </p:xfrm>
        <a:graphic>
          <a:graphicData uri="http://schemas.openxmlformats.org/drawingml/2006/table">
            <a:tbl>
              <a:tblPr firstRow="1" bandRow="1">
                <a:tableStyleId>{5DA37D80-6434-44D0-A028-1B22A696006F}</a:tableStyleId>
              </a:tblPr>
              <a:tblGrid>
                <a:gridCol w="1428311">
                  <a:extLst>
                    <a:ext uri="{9D8B030D-6E8A-4147-A177-3AD203B41FA5}">
                      <a16:colId xmlns:a16="http://schemas.microsoft.com/office/drawing/2014/main" val="2125506217"/>
                    </a:ext>
                  </a:extLst>
                </a:gridCol>
                <a:gridCol w="1428311">
                  <a:extLst>
                    <a:ext uri="{9D8B030D-6E8A-4147-A177-3AD203B41FA5}">
                      <a16:colId xmlns:a16="http://schemas.microsoft.com/office/drawing/2014/main" val="3009715108"/>
                    </a:ext>
                  </a:extLst>
                </a:gridCol>
                <a:gridCol w="1428311">
                  <a:extLst>
                    <a:ext uri="{9D8B030D-6E8A-4147-A177-3AD203B41FA5}">
                      <a16:colId xmlns:a16="http://schemas.microsoft.com/office/drawing/2014/main" val="2528945526"/>
                    </a:ext>
                  </a:extLst>
                </a:gridCol>
                <a:gridCol w="1428311">
                  <a:extLst>
                    <a:ext uri="{9D8B030D-6E8A-4147-A177-3AD203B41FA5}">
                      <a16:colId xmlns:a16="http://schemas.microsoft.com/office/drawing/2014/main" val="12412348"/>
                    </a:ext>
                  </a:extLst>
                </a:gridCol>
                <a:gridCol w="1428311">
                  <a:extLst>
                    <a:ext uri="{9D8B030D-6E8A-4147-A177-3AD203B41FA5}">
                      <a16:colId xmlns:a16="http://schemas.microsoft.com/office/drawing/2014/main" val="1867029279"/>
                    </a:ext>
                  </a:extLst>
                </a:gridCol>
                <a:gridCol w="1428311">
                  <a:extLst>
                    <a:ext uri="{9D8B030D-6E8A-4147-A177-3AD203B41FA5}">
                      <a16:colId xmlns:a16="http://schemas.microsoft.com/office/drawing/2014/main" val="3046936922"/>
                    </a:ext>
                  </a:extLst>
                </a:gridCol>
              </a:tblGrid>
              <a:tr h="127147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/>
                        <a:t>Model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Accuracy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Precision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Recall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F1-Score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Stability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17656928"/>
                  </a:ext>
                </a:extLst>
              </a:tr>
              <a:tr h="127147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YOLOv8n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/>
                        <a:t>88.7%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/>
                        <a:t>0.84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/>
                        <a:t>0.88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/>
                        <a:t>0.86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High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53164957"/>
                  </a:ext>
                </a:extLst>
              </a:tr>
              <a:tr h="127147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YOLOv8m</a:t>
                      </a:r>
                    </a:p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dirty="0"/>
                        <a:t>90%</a:t>
                      </a:r>
                    </a:p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dirty="0"/>
                        <a:t>0.85</a:t>
                      </a:r>
                    </a:p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dirty="0"/>
                        <a:t>0.90</a:t>
                      </a:r>
                    </a:p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dirty="0"/>
                        <a:t>0.87</a:t>
                      </a:r>
                    </a:p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dirty="0"/>
                        <a:t>High</a:t>
                      </a:r>
                    </a:p>
                    <a:p>
                      <a:pPr algn="ctr"/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25788702"/>
                  </a:ext>
                </a:extLst>
              </a:tr>
              <a:tr h="127147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YOLO + </a:t>
                      </a:r>
                      <a:r>
                        <a:rPr lang="en-US" dirty="0" err="1"/>
                        <a:t>EfficientNet</a:t>
                      </a:r>
                      <a:endParaRPr lang="en-US" dirty="0"/>
                    </a:p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dirty="0"/>
                        <a:t>94%</a:t>
                      </a:r>
                    </a:p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dirty="0"/>
                        <a:t>0.95</a:t>
                      </a:r>
                    </a:p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dirty="0"/>
                        <a:t>0.94</a:t>
                      </a:r>
                    </a:p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dirty="0"/>
                        <a:t>0.94</a:t>
                      </a:r>
                    </a:p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dirty="0"/>
                        <a:t>Very High</a:t>
                      </a:r>
                    </a:p>
                    <a:p>
                      <a:pPr algn="ctr"/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28594971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38B1A9B9-1C4B-1656-09E6-BC033B3B8FE8}"/>
              </a:ext>
            </a:extLst>
          </p:cNvPr>
          <p:cNvSpPr txBox="1"/>
          <p:nvPr/>
        </p:nvSpPr>
        <p:spPr>
          <a:xfrm>
            <a:off x="847786" y="5771072"/>
            <a:ext cx="1076576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hybrid YOLO +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EfficientNet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model outperforms individual YOLO models by providing better feature extraction and classification, resulting in higher accuracy and improved overall performance.</a:t>
            </a:r>
          </a:p>
          <a:p>
            <a:pPr algn="just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2630750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EDC552-B0CC-FC36-F75B-A5C1C76108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4156"/>
            <a:ext cx="12192000" cy="1143000"/>
          </a:xfrm>
        </p:spPr>
        <p:txBody>
          <a:bodyPr/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 and Future Work </a:t>
            </a:r>
            <a:endParaRPr lang="en-I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4A7952-D1B1-1836-C3A1-1A38338C1C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5223" y="1147156"/>
            <a:ext cx="11024558" cy="5311833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Conclusion:</a:t>
            </a:r>
          </a:p>
          <a:p>
            <a:pPr algn="just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proposed hybrid model combining YOLO and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EfficientNet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achieves accurate multi-class detection and classification of dental diseases with improved performance.</a:t>
            </a:r>
          </a:p>
          <a:p>
            <a:pPr algn="just"/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Integration of RAG enables personalized recommendations and better analysis, enhancing the overall effectiveness of the diagnostic system.</a:t>
            </a:r>
          </a:p>
          <a:p>
            <a:pPr marL="0" indent="0">
              <a:lnSpc>
                <a:spcPct val="150000"/>
              </a:lnSpc>
              <a:buNone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Work:</a:t>
            </a:r>
          </a:p>
          <a:p>
            <a:pPr algn="just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Integration of temporal dental imaging data and longitudinal datasets can be utilized to improve disease progression analysis, detection accuracy, and overall model robustness in real-world scenarios.</a:t>
            </a:r>
          </a:p>
          <a:p>
            <a:pPr algn="just"/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Incorporation of additional disease classes, advanced deep learning architectures, and large language models (LLMs) along with hospital systems can enable automated reporting, intelligent decision support, and practical clinical deployment.</a:t>
            </a:r>
          </a:p>
          <a:p>
            <a:pPr marL="0" indent="0">
              <a:buNone/>
            </a:pP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3579958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0" y="77414"/>
            <a:ext cx="12192000" cy="56618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600" spc="-10" dirty="0">
                <a:latin typeface="Times New Roman"/>
                <a:cs typeface="Times New Roman"/>
              </a:rPr>
              <a:t>REFERENCES</a:t>
            </a:r>
            <a:endParaRPr sz="3600" dirty="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29513" y="1200734"/>
            <a:ext cx="10936605" cy="445698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[1] Naveen S. M. B., R. Krishnaveni,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Vidhyaasaravan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S., Prakash N., Thamu P., “Enhanced Dental Disease Detection with YOLOv8: A Deep Learning Approach,” Proc. ICAISS 2025, DOI: 10.1109/ICAISS61471.2025.11041768</a:t>
            </a:r>
          </a:p>
          <a:p>
            <a:pPr algn="just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[2] Radha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Wasudeo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Wande, Utkarsha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Pacharaney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Roshni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Rathour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“Dental Disease Detection using EfficientNet,” Proc. IDICAIHEI 2025, DOI: 10.1109/IDICAIHEI65991.2025.11379135</a:t>
            </a:r>
          </a:p>
          <a:p>
            <a:pPr algn="just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[3] Dr. M. Vijayalakshmi, Sajal Tandon, Sam T. James, Tanay Gupta, “Advancing Oral Disease Diagnosis with Deep Learning and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DenseNet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Architecture,” Proc. ICECA 2024, DOI: 10.1109/ICECA63461.2024.10801084</a:t>
            </a:r>
          </a:p>
          <a:p>
            <a:pPr algn="just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[4] A. Sai Sachin, J. Karthikeyan, “A Hybrid-Based Deep Learning Framework for Pill Detection, Multi-Attribute Classification, and Prediction with Metadata Retrieval,” IEEE Access, 2026, DOI: 10.1109/ACCESS.2026.3654582</a:t>
            </a:r>
          </a:p>
          <a:p>
            <a:pPr algn="just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[5] Emre Atlier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Olca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“Professor X: Diagnosis and Treatment of Dermatological Diseases by Integration of Visual Diagnosis and Retrieval-Augmented Generation (RAG) Technologies,” IEEE Access, 2025, DOI: 10.1109/ACCESS.2025.3636437</a:t>
            </a:r>
          </a:p>
          <a:p>
            <a:pPr marL="12700" marR="5080" indent="287655" algn="just">
              <a:lnSpc>
                <a:spcPct val="100000"/>
              </a:lnSpc>
              <a:spcBef>
                <a:spcPts val="95"/>
              </a:spcBef>
              <a:buClr>
                <a:srgbClr val="212121"/>
              </a:buClr>
              <a:buAutoNum type="arabicPlain"/>
              <a:tabLst>
                <a:tab pos="300355" algn="l"/>
              </a:tabLst>
            </a:pP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7C76118-3FFA-4ECC-13D7-97AE447DAD31}"/>
              </a:ext>
            </a:extLst>
          </p:cNvPr>
          <p:cNvSpPr txBox="1"/>
          <p:nvPr/>
        </p:nvSpPr>
        <p:spPr>
          <a:xfrm>
            <a:off x="646981" y="974785"/>
            <a:ext cx="10860657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[6] Agnes Paul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Kattukaran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R.Chitra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Ashlin Santhosh et al., “Dental Disease Detection Using Image Classification,” Journal of Medical Imaging and Health Informatics, vol. 13, no. 2, pp. 450–458, 2023,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10.1166/jmihi.2023. </a:t>
            </a:r>
          </a:p>
          <a:p>
            <a:pPr algn="just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[7] K.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Moutselos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E.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Berdouses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C.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Oulis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“Recognizing Occlusal Caries in Dental Intraoral Images Using Deep Learning,” Computers in Biology and Medicine, vol. 152, pp. 106–115, 2023,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10.1016/j.compbiomed.2023.106115. </a:t>
            </a:r>
          </a:p>
          <a:p>
            <a:pPr algn="just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[8] Athira Thulaseedharan ,et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al.,“Deep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Learning-Based Detection of Oral Abnormalities in Clinical Images,” Biomedical Signal Processing and Control, vol. 78, pp. 103–112, 2022,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10.1016/j.bspc.2022.103112.</a:t>
            </a:r>
          </a:p>
          <a:p>
            <a:pPr algn="just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[9] Dr. M. Vijayalakshmi et al., “CNN-Based Dental Disease Identification for Preventive Healthcare,” Artificial Intelligence in Medicine, vol. 124, pp. 102–110, 2022,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10.1016/j.artmed.2022.102110. </a:t>
            </a:r>
          </a:p>
          <a:p>
            <a:pPr algn="just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[10] Roshni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Rathour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et al., “Dental Image Classification Using Deep Convolutional Neural Networks,” IEEE Journal of Biomedical and Health Informatics, vol. 25, no. 6, pp. 2100–2108, 2021,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10.1109/JBHI.2021.3052108.</a:t>
            </a:r>
          </a:p>
        </p:txBody>
      </p:sp>
    </p:spTree>
    <p:extLst>
      <p:ext uri="{BB962C8B-B14F-4D97-AF65-F5344CB8AC3E}">
        <p14:creationId xmlns:p14="http://schemas.microsoft.com/office/powerpoint/2010/main" val="47039356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6" name="Title 1"/>
          <p:cNvSpPr>
            <a:spLocks noGrp="1"/>
          </p:cNvSpPr>
          <p:nvPr>
            <p:ph type="title"/>
          </p:nvPr>
        </p:nvSpPr>
        <p:spPr>
          <a:xfrm>
            <a:off x="609600" y="2286000"/>
            <a:ext cx="10972800" cy="1143000"/>
          </a:xfrm>
        </p:spPr>
        <p:txBody>
          <a:bodyPr/>
          <a:lstStyle/>
          <a:p>
            <a:pPr algn="l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7DB6EF"/>
      </a:accent1>
      <a:accent2>
        <a:srgbClr val="C0504D"/>
      </a:accent2>
      <a:accent3>
        <a:srgbClr val="FFFFFF"/>
      </a:accent3>
      <a:accent4>
        <a:srgbClr val="000000"/>
      </a:accent4>
      <a:accent5>
        <a:srgbClr val="C0D7F5"/>
      </a:accent5>
      <a:accent6>
        <a:srgbClr val="AC4744"/>
      </a:accent6>
      <a:hlink>
        <a:srgbClr val="0066CC"/>
      </a:hlink>
      <a:folHlink>
        <a:srgbClr val="800080"/>
      </a:folHlink>
    </a:clrScheme>
    <a:fontScheme name="">
      <a:majorFont>
        <a:latin typeface="Arial"/>
        <a:ea typeface="Arial"/>
        <a:cs typeface=""/>
      </a:majorFont>
      <a:minorFont>
        <a:latin typeface="Arial"/>
        <a:ea typeface="Arial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4"/>
        </a:accent5>
        <a:accent6>
          <a:srgbClr val="E5895B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7B7E5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BFAF7"/>
        </a:accent3>
        <a:accent4>
          <a:srgbClr val="000000"/>
        </a:accent4>
        <a:accent5>
          <a:srgbClr val="FFFFFF"/>
        </a:accent5>
        <a:accent6>
          <a:srgbClr val="7EB1E5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7B7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8080"/>
        </a:lt1>
        <a:dk2>
          <a:srgbClr val="FFFF99"/>
        </a:dk2>
        <a:lt2>
          <a:srgbClr val="005A58"/>
        </a:lt2>
        <a:accent1>
          <a:srgbClr val="006462"/>
        </a:accent1>
        <a:accent2>
          <a:srgbClr val="6D6FC7"/>
        </a:accent2>
        <a:accent3>
          <a:srgbClr val="AAC1C1"/>
        </a:accent3>
        <a:accent4>
          <a:srgbClr val="DCDCDC"/>
        </a:accent4>
        <a:accent5>
          <a:srgbClr val="AAB8B8"/>
        </a:accent5>
        <a:accent6>
          <a:srgbClr val="6163B2"/>
        </a:accent6>
        <a:hlink>
          <a:srgbClr val="00FFFF"/>
        </a:hlink>
        <a:folHlink>
          <a:srgbClr val="00FF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800000"/>
        </a:lt1>
        <a:dk2>
          <a:srgbClr val="DFD293"/>
        </a:dk2>
        <a:lt2>
          <a:srgbClr val="5C1F00"/>
        </a:lt2>
        <a:accent1>
          <a:srgbClr val="CC3300"/>
        </a:accent1>
        <a:accent2>
          <a:srgbClr val="BE7960"/>
        </a:accent2>
        <a:accent3>
          <a:srgbClr val="C1AAAA"/>
        </a:accent3>
        <a:accent4>
          <a:srgbClr val="DCDCDC"/>
        </a:accent4>
        <a:accent5>
          <a:srgbClr val="E2ADAA"/>
        </a:accent5>
        <a:accent6>
          <a:srgbClr val="AA6C55"/>
        </a:accent6>
        <a:hlink>
          <a:srgbClr val="FFFF99"/>
        </a:hlink>
        <a:folHlink>
          <a:srgbClr val="D3A21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99"/>
        </a:lt1>
        <a:dk2>
          <a:srgbClr val="CCFFFF"/>
        </a:dk2>
        <a:lt2>
          <a:srgbClr val="003366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CDCDC"/>
        </a:accent4>
        <a:accent5>
          <a:srgbClr val="ADB9E2"/>
        </a:accent5>
        <a:accent6>
          <a:srgbClr val="009D00"/>
        </a:accent6>
        <a:hlink>
          <a:srgbClr val="66CCFF"/>
        </a:hlink>
        <a:folHlink>
          <a:srgbClr val="FFE701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00"/>
        </a:lt1>
        <a:dk2>
          <a:srgbClr val="E3EBF1"/>
        </a:dk2>
        <a:lt2>
          <a:srgbClr val="336699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CDCDC"/>
        </a:accent4>
        <a:accent5>
          <a:srgbClr val="AAADCA"/>
        </a:accent5>
        <a:accent6>
          <a:srgbClr val="3E7B43"/>
        </a:accent6>
        <a:hlink>
          <a:srgbClr val="66CCFF"/>
        </a:hlink>
        <a:folHlink>
          <a:srgbClr val="F0E5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686B5D"/>
        </a:lt1>
        <a:dk2>
          <a:srgbClr val="D1D1CB"/>
        </a:dk2>
        <a:lt2>
          <a:srgbClr val="777777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CDCDC"/>
        </a:accent4>
        <a:accent5>
          <a:srgbClr val="C7C7C1"/>
        </a:accent5>
        <a:accent6>
          <a:srgbClr val="728D96"/>
        </a:accent6>
        <a:hlink>
          <a:srgbClr val="FFCC66"/>
        </a:hlink>
        <a:folHlink>
          <a:srgbClr val="E9DCB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666699"/>
        </a:lt1>
        <a:dk2>
          <a:srgbClr val="FFFFFF"/>
        </a:dk2>
        <a:lt2>
          <a:srgbClr val="3E3E5C"/>
        </a:lt2>
        <a:accent1>
          <a:srgbClr val="60597B"/>
        </a:accent1>
        <a:accent2>
          <a:srgbClr val="6666FF"/>
        </a:accent2>
        <a:accent3>
          <a:srgbClr val="B9B9CA"/>
        </a:accent3>
        <a:accent4>
          <a:srgbClr val="DCDCDC"/>
        </a:accent4>
        <a:accent5>
          <a:srgbClr val="B7B5BF"/>
        </a:accent5>
        <a:accent6>
          <a:srgbClr val="5B5BE5"/>
        </a:accent6>
        <a:hlink>
          <a:srgbClr val="99CCFF"/>
        </a:hlink>
        <a:folHlink>
          <a:srgbClr val="FFFF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523E26"/>
        </a:lt1>
        <a:dk2>
          <a:srgbClr val="DFC08D"/>
        </a:dk2>
        <a:lt2>
          <a:srgbClr val="2D2015"/>
        </a:lt2>
        <a:accent1>
          <a:srgbClr val="8C7B70"/>
        </a:accent1>
        <a:accent2>
          <a:srgbClr val="8F5F2F"/>
        </a:accent2>
        <a:accent3>
          <a:srgbClr val="B3AFAB"/>
        </a:accent3>
        <a:accent4>
          <a:srgbClr val="DCDCDC"/>
        </a:accent4>
        <a:accent5>
          <a:srgbClr val="C5BFBC"/>
        </a:accent5>
        <a:accent6>
          <a:srgbClr val="805529"/>
        </a:accent6>
        <a:hlink>
          <a:srgbClr val="CCB400"/>
        </a:hlink>
        <a:folHlink>
          <a:srgbClr val="8C9EA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7DB6EF"/>
        </a:accent1>
        <a:accent2>
          <a:srgbClr val="C0504D"/>
        </a:accent2>
        <a:accent3>
          <a:srgbClr val="FFFFFF"/>
        </a:accent3>
        <a:accent4>
          <a:srgbClr val="000000"/>
        </a:accent4>
        <a:accent5>
          <a:srgbClr val="C0D7F5"/>
        </a:accent5>
        <a:accent6>
          <a:srgbClr val="AC4744"/>
        </a:accent6>
        <a:hlink>
          <a:srgbClr val="0066CC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TH Sarabun PSK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TH Sarabun PSK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899</TotalTime>
  <Words>2059</Words>
  <Application>Microsoft Office PowerPoint</Application>
  <PresentationFormat>Widescreen</PresentationFormat>
  <Paragraphs>234</Paragraphs>
  <Slides>22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7" baseType="lpstr">
      <vt:lpstr>Arial</vt:lpstr>
      <vt:lpstr>Calibri</vt:lpstr>
      <vt:lpstr>Tahoma</vt:lpstr>
      <vt:lpstr>Times New Roman</vt:lpstr>
      <vt:lpstr>Default Design</vt:lpstr>
      <vt:lpstr>PowerPoint Presentation</vt:lpstr>
      <vt:lpstr>Agenda</vt:lpstr>
      <vt:lpstr>PowerPoint Presentation</vt:lpstr>
      <vt:lpstr>PowerPoint Presentation</vt:lpstr>
      <vt:lpstr>PowerPoint Presentation</vt:lpstr>
      <vt:lpstr>Literature Review and Summary</vt:lpstr>
      <vt:lpstr>PowerPoint Presentation</vt:lpstr>
      <vt:lpstr>PowerPoint Presentation</vt:lpstr>
      <vt:lpstr>Algorithms used in the Project</vt:lpstr>
      <vt:lpstr> Architecture Diagram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Results and Result Analysis  </vt:lpstr>
      <vt:lpstr>PowerPoint Presentation</vt:lpstr>
      <vt:lpstr>Conclusion and Future Work </vt:lpstr>
      <vt:lpstr>REFERENCES</vt:lpstr>
      <vt:lpstr>PowerPoint Presentation</vt:lpstr>
      <vt:lpstr>THANK YOU.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deepika pudi</dc:creator>
  <cp:lastModifiedBy>charan sai chinta</cp:lastModifiedBy>
  <cp:revision>108</cp:revision>
  <dcterms:created xsi:type="dcterms:W3CDTF">2024-07-23T11:13:00Z</dcterms:created>
  <dcterms:modified xsi:type="dcterms:W3CDTF">2026-04-20T02:49:52Z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3B075DDF692D4B75AF27D63CF0A7D4F3_13</vt:lpwstr>
  </property>
  <property fmtid="{D5CDD505-2E9C-101B-9397-08002B2CF9AE}" pid="3" name="KSOProductBuildVer">
    <vt:lpwstr>1033-12.2.0.23196</vt:lpwstr>
  </property>
</Properties>
</file>